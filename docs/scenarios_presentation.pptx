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146847177" r:id="rId6"/>
    <p:sldId id="257" r:id="rId7"/>
    <p:sldId id="258" r:id="rId8"/>
    <p:sldId id="259" r:id="rId9"/>
    <p:sldId id="260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7C8BC-6781-4920-99B1-819E5EF8194F}" v="1" dt="2026-04-30T07:57:07.4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IEU Valentin" userId="95f181df-3538-4069-9d7b-803bc6196cc4" providerId="ADAL" clId="{6A61B7B9-EF56-4D2E-A0C7-AB5FA1C955C8}"/>
    <pc:docChg chg="custSel addSld modSld">
      <pc:chgData name="MATHIEU Valentin" userId="95f181df-3538-4069-9d7b-803bc6196cc4" providerId="ADAL" clId="{6A61B7B9-EF56-4D2E-A0C7-AB5FA1C955C8}" dt="2026-04-30T08:37:07.158" v="44" actId="478"/>
      <pc:docMkLst>
        <pc:docMk/>
      </pc:docMkLst>
      <pc:sldChg chg="modSp mod">
        <pc:chgData name="MATHIEU Valentin" userId="95f181df-3538-4069-9d7b-803bc6196cc4" providerId="ADAL" clId="{6A61B7B9-EF56-4D2E-A0C7-AB5FA1C955C8}" dt="2026-04-30T07:58:04.712" v="40" actId="207"/>
        <pc:sldMkLst>
          <pc:docMk/>
          <pc:sldMk cId="0" sldId="256"/>
        </pc:sldMkLst>
        <pc:spChg chg="mod">
          <ac:chgData name="MATHIEU Valentin" userId="95f181df-3538-4069-9d7b-803bc6196cc4" providerId="ADAL" clId="{6A61B7B9-EF56-4D2E-A0C7-AB5FA1C955C8}" dt="2026-04-30T07:58:04.712" v="40" actId="207"/>
          <ac:spMkLst>
            <pc:docMk/>
            <pc:sldMk cId="0" sldId="256"/>
            <ac:spMk id="2" creationId="{00000000-0000-0000-0000-000000000000}"/>
          </ac:spMkLst>
        </pc:spChg>
      </pc:sldChg>
      <pc:sldChg chg="delSp modSp mod">
        <pc:chgData name="MATHIEU Valentin" userId="95f181df-3538-4069-9d7b-803bc6196cc4" providerId="ADAL" clId="{6A61B7B9-EF56-4D2E-A0C7-AB5FA1C955C8}" dt="2026-04-30T07:57:59.166" v="39" actId="207"/>
        <pc:sldMkLst>
          <pc:docMk/>
          <pc:sldMk cId="0" sldId="257"/>
        </pc:sldMkLst>
        <pc:spChg chg="mod">
          <ac:chgData name="MATHIEU Valentin" userId="95f181df-3538-4069-9d7b-803bc6196cc4" providerId="ADAL" clId="{6A61B7B9-EF56-4D2E-A0C7-AB5FA1C955C8}" dt="2026-04-30T07:57:59.166" v="39" actId="207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MATHIEU Valentin" userId="95f181df-3538-4069-9d7b-803bc6196cc4" providerId="ADAL" clId="{6A61B7B9-EF56-4D2E-A0C7-AB5FA1C955C8}" dt="2026-04-30T07:49:21.496" v="16" actId="478"/>
          <ac:spMkLst>
            <pc:docMk/>
            <pc:sldMk cId="0" sldId="257"/>
            <ac:spMk id="4" creationId="{00000000-0000-0000-0000-000000000000}"/>
          </ac:spMkLst>
        </pc:spChg>
        <pc:graphicFrameChg chg="mod modGraphic">
          <ac:chgData name="MATHIEU Valentin" userId="95f181df-3538-4069-9d7b-803bc6196cc4" providerId="ADAL" clId="{6A61B7B9-EF56-4D2E-A0C7-AB5FA1C955C8}" dt="2026-04-30T07:57:54.019" v="38" actId="12385"/>
          <ac:graphicFrameMkLst>
            <pc:docMk/>
            <pc:sldMk cId="0" sldId="257"/>
            <ac:graphicFrameMk id="3" creationId="{00000000-0000-0000-0000-000000000000}"/>
          </ac:graphicFrameMkLst>
        </pc:graphicFrameChg>
      </pc:sldChg>
      <pc:sldChg chg="modSp mod">
        <pc:chgData name="MATHIEU Valentin" userId="95f181df-3538-4069-9d7b-803bc6196cc4" providerId="ADAL" clId="{6A61B7B9-EF56-4D2E-A0C7-AB5FA1C955C8}" dt="2026-04-30T07:58:09.545" v="41" actId="207"/>
        <pc:sldMkLst>
          <pc:docMk/>
          <pc:sldMk cId="0" sldId="258"/>
        </pc:sldMkLst>
        <pc:spChg chg="mod">
          <ac:chgData name="MATHIEU Valentin" userId="95f181df-3538-4069-9d7b-803bc6196cc4" providerId="ADAL" clId="{6A61B7B9-EF56-4D2E-A0C7-AB5FA1C955C8}" dt="2026-04-30T07:58:09.545" v="41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THIEU Valentin" userId="95f181df-3538-4069-9d7b-803bc6196cc4" providerId="ADAL" clId="{6A61B7B9-EF56-4D2E-A0C7-AB5FA1C955C8}" dt="2026-04-30T07:54:14.900" v="36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MATHIEU Valentin" userId="95f181df-3538-4069-9d7b-803bc6196cc4" providerId="ADAL" clId="{6A61B7B9-EF56-4D2E-A0C7-AB5FA1C955C8}" dt="2026-04-30T07:53:39.307" v="29" actId="6549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MATHIEU Valentin" userId="95f181df-3538-4069-9d7b-803bc6196cc4" providerId="ADAL" clId="{6A61B7B9-EF56-4D2E-A0C7-AB5FA1C955C8}" dt="2026-04-30T07:58:14.816" v="42" actId="207"/>
        <pc:sldMkLst>
          <pc:docMk/>
          <pc:sldMk cId="0" sldId="259"/>
        </pc:sldMkLst>
        <pc:spChg chg="mod">
          <ac:chgData name="MATHIEU Valentin" userId="95f181df-3538-4069-9d7b-803bc6196cc4" providerId="ADAL" clId="{6A61B7B9-EF56-4D2E-A0C7-AB5FA1C955C8}" dt="2026-04-30T07:58:14.816" v="42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THIEU Valentin" userId="95f181df-3538-4069-9d7b-803bc6196cc4" providerId="ADAL" clId="{6A61B7B9-EF56-4D2E-A0C7-AB5FA1C955C8}" dt="2026-04-30T07:53:05.937" v="21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MATHIEU Valentin" userId="95f181df-3538-4069-9d7b-803bc6196cc4" providerId="ADAL" clId="{6A61B7B9-EF56-4D2E-A0C7-AB5FA1C955C8}" dt="2026-04-30T07:53:25.199" v="25" actId="6549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MATHIEU Valentin" userId="95f181df-3538-4069-9d7b-803bc6196cc4" providerId="ADAL" clId="{6A61B7B9-EF56-4D2E-A0C7-AB5FA1C955C8}" dt="2026-04-30T07:58:17.895" v="43" actId="207"/>
        <pc:sldMkLst>
          <pc:docMk/>
          <pc:sldMk cId="0" sldId="260"/>
        </pc:sldMkLst>
        <pc:spChg chg="mod">
          <ac:chgData name="MATHIEU Valentin" userId="95f181df-3538-4069-9d7b-803bc6196cc4" providerId="ADAL" clId="{6A61B7B9-EF56-4D2E-A0C7-AB5FA1C955C8}" dt="2026-04-30T07:58:17.895" v="43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ATHIEU Valentin" userId="95f181df-3538-4069-9d7b-803bc6196cc4" providerId="ADAL" clId="{6A61B7B9-EF56-4D2E-A0C7-AB5FA1C955C8}" dt="2026-04-30T07:53:45.189" v="33" actId="6549"/>
          <ac:spMkLst>
            <pc:docMk/>
            <pc:sldMk cId="0" sldId="260"/>
            <ac:spMk id="6" creationId="{00000000-0000-0000-0000-000000000000}"/>
          </ac:spMkLst>
        </pc:spChg>
      </pc:sldChg>
      <pc:sldChg chg="delSp add mod">
        <pc:chgData name="MATHIEU Valentin" userId="95f181df-3538-4069-9d7b-803bc6196cc4" providerId="ADAL" clId="{6A61B7B9-EF56-4D2E-A0C7-AB5FA1C955C8}" dt="2026-04-30T08:37:07.158" v="44" actId="478"/>
        <pc:sldMkLst>
          <pc:docMk/>
          <pc:sldMk cId="3603290531" sldId="2146847177"/>
        </pc:sldMkLst>
        <pc:spChg chg="del">
          <ac:chgData name="MATHIEU Valentin" userId="95f181df-3538-4069-9d7b-803bc6196cc4" providerId="ADAL" clId="{6A61B7B9-EF56-4D2E-A0C7-AB5FA1C955C8}" dt="2026-04-30T08:37:07.158" v="44" actId="478"/>
          <ac:spMkLst>
            <pc:docMk/>
            <pc:sldMk cId="3603290531" sldId="2146847177"/>
            <ac:spMk id="5" creationId="{FA619680-6F36-4DCD-8890-EDBBE163D9B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21594" y="2377440"/>
            <a:ext cx="771833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3A5F"/>
                </a:solidFill>
              </a:defRPr>
            </a:pPr>
            <a:r>
              <a:rPr dirty="0" err="1"/>
              <a:t>TestCase.xiidm</a:t>
            </a:r>
            <a:r>
              <a:rPr dirty="0"/>
              <a:t> — Scenario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555555"/>
                </a:solidFill>
              </a:defRPr>
            </a:pPr>
            <a:r>
              <a:t>Merged IEEE 14 + IEEE 39 + HVDC — baseline / high RES + low demand / low RES + high demand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1F44E-DCF6-0DC7-1D26-6292B68FD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1EB61A-9733-4D9A-AD29-45CB76859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799" b="1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Task 3.2</a:t>
            </a:r>
            <a:r>
              <a:rPr lang="en-GB" sz="2799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 coordination – Common Test Case</a:t>
            </a:r>
            <a:endParaRPr lang="en-GB" noProof="0"/>
          </a:p>
        </p:txBody>
      </p:sp>
      <p:pic>
        <p:nvPicPr>
          <p:cNvPr id="6" name="Picture 20" descr="A diagram of a network&#10;&#10;AI-generated content may be incorrect.">
            <a:extLst>
              <a:ext uri="{FF2B5EF4-FFF2-40B4-BE49-F238E27FC236}">
                <a16:creationId xmlns:a16="http://schemas.microsoft.com/office/drawing/2014/main" id="{F7DDD0A6-C048-79B0-DD1B-DE81EE5F3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132" y="3307804"/>
            <a:ext cx="4162400" cy="3007001"/>
          </a:xfrm>
          <a:prstGeom prst="rect">
            <a:avLst/>
          </a:prstGeom>
        </p:spPr>
      </p:pic>
      <p:grpSp>
        <p:nvGrpSpPr>
          <p:cNvPr id="3" name="Groupe 2">
            <a:extLst>
              <a:ext uri="{FF2B5EF4-FFF2-40B4-BE49-F238E27FC236}">
                <a16:creationId xmlns:a16="http://schemas.microsoft.com/office/drawing/2014/main" id="{D0947B39-D6F5-288C-0B2A-0C31ABD33B1A}"/>
              </a:ext>
            </a:extLst>
          </p:cNvPr>
          <p:cNvGrpSpPr/>
          <p:nvPr/>
        </p:nvGrpSpPr>
        <p:grpSpPr>
          <a:xfrm>
            <a:off x="4711436" y="2514381"/>
            <a:ext cx="2011802" cy="417491"/>
            <a:chOff x="4712664" y="2514143"/>
            <a:chExt cx="2012326" cy="417600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22632F77-0890-8BC8-FF60-72FFF7463A3E}"/>
                </a:ext>
              </a:extLst>
            </p:cNvPr>
            <p:cNvGrpSpPr/>
            <p:nvPr/>
          </p:nvGrpSpPr>
          <p:grpSpPr>
            <a:xfrm>
              <a:off x="5323851" y="2514143"/>
              <a:ext cx="769768" cy="417600"/>
              <a:chOff x="2495348" y="3787816"/>
              <a:chExt cx="769768" cy="417600"/>
            </a:xfrm>
          </p:grpSpPr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76F0416F-8018-CB45-F834-FC3DC5E839ED}"/>
                  </a:ext>
                </a:extLst>
              </p:cNvPr>
              <p:cNvSpPr/>
              <p:nvPr/>
            </p:nvSpPr>
            <p:spPr>
              <a:xfrm>
                <a:off x="2668376" y="3787816"/>
                <a:ext cx="417600" cy="4176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/>
              </a:p>
            </p:txBody>
          </p:sp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F941EDCB-F5EA-A692-0315-6314E0E0253F}"/>
                  </a:ext>
                </a:extLst>
              </p:cNvPr>
              <p:cNvSpPr txBox="1"/>
              <p:nvPr/>
            </p:nvSpPr>
            <p:spPr>
              <a:xfrm>
                <a:off x="2495348" y="3811950"/>
                <a:ext cx="7697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799" b="1">
                    <a:solidFill>
                      <a:schemeClr val="bg1"/>
                    </a:solidFill>
                  </a:rPr>
                  <a:t>#4</a:t>
                </a:r>
              </a:p>
            </p:txBody>
          </p:sp>
        </p:grp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79693BD1-075E-7CF9-A085-2FCB8FD172AD}"/>
                </a:ext>
              </a:extLst>
            </p:cNvPr>
            <p:cNvGrpSpPr/>
            <p:nvPr/>
          </p:nvGrpSpPr>
          <p:grpSpPr>
            <a:xfrm>
              <a:off x="5935038" y="2514143"/>
              <a:ext cx="789952" cy="417600"/>
              <a:chOff x="2691000" y="4351696"/>
              <a:chExt cx="789952" cy="417600"/>
            </a:xfrm>
          </p:grpSpPr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F2B3D250-824B-8A36-FC70-B44255E4991B}"/>
                  </a:ext>
                </a:extLst>
              </p:cNvPr>
              <p:cNvSpPr/>
              <p:nvPr/>
            </p:nvSpPr>
            <p:spPr>
              <a:xfrm>
                <a:off x="2869544" y="4351696"/>
                <a:ext cx="417600" cy="417600"/>
              </a:xfrm>
              <a:prstGeom prst="ellipse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/>
              </a:p>
            </p:txBody>
          </p:sp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7FE2372C-DF3D-7151-F7E0-A748D13A4AC0}"/>
                  </a:ext>
                </a:extLst>
              </p:cNvPr>
              <p:cNvSpPr txBox="1"/>
              <p:nvPr/>
            </p:nvSpPr>
            <p:spPr>
              <a:xfrm>
                <a:off x="2691000" y="4369632"/>
                <a:ext cx="789952" cy="379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799" b="1">
                    <a:solidFill>
                      <a:schemeClr val="bg1"/>
                    </a:solidFill>
                  </a:rPr>
                  <a:t>#10</a:t>
                </a:r>
              </a:p>
            </p:txBody>
          </p:sp>
        </p:grpSp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429EEBF4-DBF1-D6A8-7008-08CC646BB338}"/>
                </a:ext>
              </a:extLst>
            </p:cNvPr>
            <p:cNvGrpSpPr/>
            <p:nvPr/>
          </p:nvGrpSpPr>
          <p:grpSpPr>
            <a:xfrm>
              <a:off x="4712664" y="2514143"/>
              <a:ext cx="769768" cy="417600"/>
              <a:chOff x="3045356" y="4915576"/>
              <a:chExt cx="769768" cy="417600"/>
            </a:xfrm>
          </p:grpSpPr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7B63C295-05B5-0953-167C-46C48C964C0F}"/>
                  </a:ext>
                </a:extLst>
              </p:cNvPr>
              <p:cNvSpPr/>
              <p:nvPr/>
            </p:nvSpPr>
            <p:spPr>
              <a:xfrm>
                <a:off x="3221440" y="4915576"/>
                <a:ext cx="417600" cy="417600"/>
              </a:xfrm>
              <a:prstGeom prst="ellipse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/>
              </a:p>
            </p:txBody>
          </p:sp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1BBAC140-6905-BC64-75FA-5A9CA3EDA2BC}"/>
                  </a:ext>
                </a:extLst>
              </p:cNvPr>
              <p:cNvSpPr txBox="1"/>
              <p:nvPr/>
            </p:nvSpPr>
            <p:spPr>
              <a:xfrm>
                <a:off x="3045356" y="4933512"/>
                <a:ext cx="7697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799" b="1">
                    <a:solidFill>
                      <a:schemeClr val="bg1"/>
                    </a:solidFill>
                  </a:rPr>
                  <a:t>#9</a:t>
                </a:r>
              </a:p>
            </p:txBody>
          </p:sp>
        </p:grp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75C0F245-A567-49A7-3A6C-2BF0849C61E5}"/>
              </a:ext>
            </a:extLst>
          </p:cNvPr>
          <p:cNvSpPr txBox="1"/>
          <p:nvPr/>
        </p:nvSpPr>
        <p:spPr>
          <a:xfrm>
            <a:off x="1302555" y="2531867"/>
            <a:ext cx="3600282" cy="40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999" b="1"/>
              <a:t>For transmission-level tools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AF71203-2755-D5E9-F5C0-0FB156C9910A}"/>
              </a:ext>
            </a:extLst>
          </p:cNvPr>
          <p:cNvSpPr txBox="1"/>
          <p:nvPr/>
        </p:nvSpPr>
        <p:spPr>
          <a:xfrm>
            <a:off x="1447101" y="2938569"/>
            <a:ext cx="4355109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799"/>
              <a:t>IEEE 39-Bus + HVDC link + IEEE 14-Bus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D23A0851-E1F6-CB9C-579D-7983D20A49BD}"/>
              </a:ext>
            </a:extLst>
          </p:cNvPr>
          <p:cNvGrpSpPr/>
          <p:nvPr/>
        </p:nvGrpSpPr>
        <p:grpSpPr>
          <a:xfrm>
            <a:off x="11042319" y="2530311"/>
            <a:ext cx="769568" cy="417491"/>
            <a:chOff x="3654176" y="5284908"/>
            <a:chExt cx="769768" cy="417600"/>
          </a:xfrm>
        </p:grpSpPr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E155D716-048E-5D04-5D63-57B001E07EC7}"/>
                </a:ext>
              </a:extLst>
            </p:cNvPr>
            <p:cNvSpPr/>
            <p:nvPr/>
          </p:nvSpPr>
          <p:spPr>
            <a:xfrm>
              <a:off x="3830260" y="5284908"/>
              <a:ext cx="417600" cy="4176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/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6E8CEB00-C08C-7BBA-25C7-E1AB5F4391A4}"/>
                </a:ext>
              </a:extLst>
            </p:cNvPr>
            <p:cNvSpPr txBox="1"/>
            <p:nvPr/>
          </p:nvSpPr>
          <p:spPr>
            <a:xfrm>
              <a:off x="3654176" y="5309042"/>
              <a:ext cx="7697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799" b="1">
                  <a:solidFill>
                    <a:schemeClr val="bg1"/>
                  </a:solidFill>
                </a:rPr>
                <a:t>#6</a:t>
              </a:r>
            </a:p>
          </p:txBody>
        </p: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FCC425EE-70F8-A5EB-B047-6CA37E47881D}"/>
              </a:ext>
            </a:extLst>
          </p:cNvPr>
          <p:cNvSpPr txBox="1"/>
          <p:nvPr/>
        </p:nvSpPr>
        <p:spPr>
          <a:xfrm>
            <a:off x="7817927" y="2530311"/>
            <a:ext cx="3335122" cy="40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999" b="1"/>
              <a:t>For distribution-level tools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0BB41BF-9414-B8DF-E2DE-0B83EA5BF1FC}"/>
              </a:ext>
            </a:extLst>
          </p:cNvPr>
          <p:cNvSpPr txBox="1"/>
          <p:nvPr/>
        </p:nvSpPr>
        <p:spPr>
          <a:xfrm>
            <a:off x="7456778" y="2938569"/>
            <a:ext cx="4355109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799"/>
              <a:t>Modified IEEE 33-Bus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9BBC668C-AFF9-28BB-FABA-DD2F948D87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67" r="957" b="2727"/>
          <a:stretch>
            <a:fillRect/>
          </a:stretch>
        </p:blipFill>
        <p:spPr>
          <a:xfrm>
            <a:off x="837982" y="3307805"/>
            <a:ext cx="5769118" cy="2587544"/>
          </a:xfrm>
          <a:prstGeom prst="rect">
            <a:avLst/>
          </a:prstGeom>
        </p:spPr>
      </p:pic>
      <p:cxnSp>
        <p:nvCxnSpPr>
          <p:cNvPr id="25" name="Connecteur : en angle 24">
            <a:extLst>
              <a:ext uri="{FF2B5EF4-FFF2-40B4-BE49-F238E27FC236}">
                <a16:creationId xmlns:a16="http://schemas.microsoft.com/office/drawing/2014/main" id="{4D6DE557-2194-0078-8269-B37C22C75DBA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86911" y="5898950"/>
            <a:ext cx="363723" cy="356523"/>
          </a:xfrm>
          <a:prstGeom prst="bentConnector3">
            <a:avLst>
              <a:gd name="adj1" fmla="val 100267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9E943D92-1831-A817-652E-122F2FDA6032}"/>
              </a:ext>
            </a:extLst>
          </p:cNvPr>
          <p:cNvSpPr txBox="1"/>
          <p:nvPr/>
        </p:nvSpPr>
        <p:spPr>
          <a:xfrm>
            <a:off x="2856395" y="5797528"/>
            <a:ext cx="2577936" cy="92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664" indent="-285664">
              <a:buFont typeface="Arial" panose="020B0604020202020204" pitchFamily="34" charset="0"/>
              <a:buChar char="•"/>
            </a:pPr>
            <a:r>
              <a:rPr lang="fr-FR" sz="1799"/>
              <a:t>PSS/E format</a:t>
            </a:r>
          </a:p>
          <a:p>
            <a:pPr marL="285664" indent="-285664">
              <a:buFont typeface="Arial" panose="020B0604020202020204" pitchFamily="34" charset="0"/>
              <a:buChar char="•"/>
            </a:pPr>
            <a:r>
              <a:rPr lang="fr-FR" sz="1799"/>
              <a:t>CGMES</a:t>
            </a:r>
          </a:p>
          <a:p>
            <a:pPr marL="285664" indent="-285664">
              <a:buFont typeface="Arial" panose="020B0604020202020204" pitchFamily="34" charset="0"/>
              <a:buChar char="•"/>
            </a:pPr>
            <a:r>
              <a:rPr lang="fr-FR" sz="1799"/>
              <a:t>XIIDM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A95647F5-861B-4C61-D779-B24C87CB4075}"/>
              </a:ext>
            </a:extLst>
          </p:cNvPr>
          <p:cNvSpPr txBox="1"/>
          <p:nvPr/>
        </p:nvSpPr>
        <p:spPr>
          <a:xfrm>
            <a:off x="963185" y="1319150"/>
            <a:ext cx="6092889" cy="1107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799"/>
              <a:t>Objectives:</a:t>
            </a:r>
          </a:p>
          <a:p>
            <a:pPr marL="742727" lvl="1" indent="-285664">
              <a:buFont typeface="Arial" panose="020B0604020202020204" pitchFamily="34" charset="0"/>
              <a:buChar char="•"/>
            </a:pPr>
            <a:r>
              <a:rPr lang="en-GB" sz="1600"/>
              <a:t>Validate tools behaviour before the demos</a:t>
            </a:r>
          </a:p>
          <a:p>
            <a:pPr marL="742727" lvl="1" indent="-285664">
              <a:buFont typeface="Arial" panose="020B0604020202020204" pitchFamily="34" charset="0"/>
              <a:buChar char="•"/>
            </a:pPr>
            <a:r>
              <a:rPr lang="en-GB" sz="1600"/>
              <a:t>Compare similar tools</a:t>
            </a:r>
          </a:p>
          <a:p>
            <a:pPr marL="742727" lvl="1" indent="-285664">
              <a:buFont typeface="Arial" panose="020B0604020202020204" pitchFamily="34" charset="0"/>
              <a:buChar char="•"/>
            </a:pPr>
            <a:r>
              <a:rPr lang="en-GB" sz="1600"/>
              <a:t>Investigate tools complementarity</a:t>
            </a:r>
          </a:p>
        </p:txBody>
      </p:sp>
    </p:spTree>
    <p:extLst>
      <p:ext uri="{BB962C8B-B14F-4D97-AF65-F5344CB8AC3E}">
        <p14:creationId xmlns:p14="http://schemas.microsoft.com/office/powerpoint/2010/main" val="360329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rPr dirty="0"/>
              <a:t>Generator metadata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rPr dirty="0"/>
              <a:t>15 generators — type, nominal P, marginal price (synthetic, editable)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31669"/>
              </p:ext>
            </p:extLst>
          </p:nvPr>
        </p:nvGraphicFramePr>
        <p:xfrm>
          <a:off x="662876" y="1216152"/>
          <a:ext cx="9372600" cy="5059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Subnet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Nominal P (MW)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Price (€/MWh)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/>
                        <a:t>B101-G1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IEEE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NUCLEAR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/>
                        <a:t>B102-G1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IEEE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/>
                        <a:t>B103-G1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IEEE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86AB"/>
                          </a:solidFill>
                        </a:rPr>
                        <a:t>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/>
                        <a:t>B106-G1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IEEE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86AB"/>
                          </a:solidFill>
                        </a:rPr>
                        <a:t>SOLAR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/>
                        <a:t>B108-G1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IEEE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86AB"/>
                          </a:solidFill>
                        </a:rPr>
                        <a:t>HYDRO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/>
                        <a:t>B30-G1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IEEE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86AB"/>
                          </a:solidFill>
                        </a:rPr>
                        <a:t>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/>
                        <a:t>B31-G1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IEEE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2E86AB"/>
                          </a:solidFill>
                        </a:rPr>
                        <a:t>SOLAR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/>
                        <a:t>B32-G1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IEEE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/>
                        <a:t>B33-G1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IEEE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NUCLEAR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/>
                        <a:t>B34-G1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IEEE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GAS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/>
                        <a:t>B35-G1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IEEE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E86AB"/>
                          </a:solidFill>
                        </a:rPr>
                        <a:t>HYDRO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/>
                        <a:t>B36-G1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IEEE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/>
                        <a:t>B37-G1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IEEE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100"/>
                        <a:t>B38-G1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IEEE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NUCLEAR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100"/>
                        <a:t>B39-G1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IEEE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NUCLEAR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rPr dirty="0"/>
              <a:t>Scenario: baseline</a:t>
            </a:r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rPr dirty="0"/>
              <a:t>Reference operating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86AB"/>
                </a:solidFill>
              </a:defRPr>
            </a:pPr>
            <a:r>
              <a:rPr dirty="0"/>
              <a:t>How the scenario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/>
            </a:pPr>
            <a:r>
              <a:rPr dirty="0"/>
              <a:t>Loads kept at their stored p0 / q0 (</a:t>
            </a:r>
            <a:r>
              <a:rPr dirty="0" err="1"/>
              <a:t>load_scale</a:t>
            </a:r>
            <a:r>
              <a:rPr dirty="0"/>
              <a:t> = 1.00). </a:t>
            </a:r>
            <a:endParaRPr lang="fr-FR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/>
            </a:pPr>
            <a:r>
              <a:rPr dirty="0"/>
              <a:t>HVDC link held at its file value: 50 MW from IEEE 39 -&gt; IEEE 14.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86AB"/>
                </a:solidFill>
              </a:defRPr>
            </a:pPr>
            <a:r>
              <a:rPr dirty="0"/>
              <a:t>Expected results after AC load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109728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/>
            </a:pPr>
            <a:r>
              <a:rPr dirty="0"/>
              <a:t>HVDC target: 50 MW (IEEE 39 → IEEE 14)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/>
            </a:pPr>
            <a:r>
              <a:rPr dirty="0"/>
              <a:t>Generation per area: IEEE 14: MW  |  IEEE 39: MW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/>
            </a:pPr>
            <a:r>
              <a:rPr dirty="0"/>
              <a:t>Load per area: IEEE 14: MW  |  IEEE 39: MW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/>
            </a:pPr>
            <a:r>
              <a:rPr dirty="0"/>
              <a:t>Bus voltages</a:t>
            </a:r>
            <a:r>
              <a:rPr lang="fr-FR" dirty="0"/>
              <a:t>: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rPr dirty="0"/>
              <a:t>Scenario: </a:t>
            </a:r>
            <a:r>
              <a:rPr dirty="0" err="1"/>
              <a:t>high_res_low_demand</a:t>
            </a:r>
            <a:endParaRPr dirty="0"/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rPr dirty="0"/>
              <a:t>RES at full output, demand depressed, HVDC at maximum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86AB"/>
                </a:solidFill>
              </a:defRPr>
            </a:pPr>
            <a:r>
              <a:t>How the scenario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/>
            </a:pPr>
            <a:r>
              <a:rPr dirty="0"/>
              <a:t>Loads scaled to 70 % (</a:t>
            </a:r>
            <a:r>
              <a:rPr dirty="0" err="1"/>
              <a:t>load_scale</a:t>
            </a:r>
            <a:r>
              <a:rPr dirty="0"/>
              <a:t> = 0.70).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/>
            </a:pPr>
            <a:r>
              <a:rPr dirty="0"/>
              <a:t>All RES units (WIND, SOLAR, HYDRO) pinned at 100 % of nominal P.</a:t>
            </a:r>
            <a:r>
              <a:rPr lang="fr-FR" dirty="0"/>
              <a:t>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/>
            </a:pPr>
            <a:r>
              <a:rPr dirty="0"/>
              <a:t>HVDC forced to its maximum: 60 MW from IEEE 39 -&gt; IEEE 14, to stress the small IEEE 14 system.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/>
            </a:pPr>
            <a:r>
              <a:rPr dirty="0"/>
              <a:t>Goal: provoke voltage rise on the IEEE 14 side and test HVDC congestion.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86AB"/>
                </a:solidFill>
              </a:defRPr>
            </a:pPr>
            <a:r>
              <a:t>Expected results after AC load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109728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/>
            </a:pPr>
            <a:r>
              <a:rPr dirty="0"/>
              <a:t>HVDC target: 60 MW (IEEE 39 → IEEE 14)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/>
            </a:pPr>
            <a:r>
              <a:rPr dirty="0"/>
              <a:t>Generation per area: IEEE 14: MW  |  IEEE 39: MW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/>
            </a:pPr>
            <a:r>
              <a:rPr dirty="0"/>
              <a:t>Load per area: IEEE 14: MW  |  IEEE 39: MW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/>
            </a:pPr>
            <a:r>
              <a:rPr dirty="0"/>
              <a:t>Bus voltages: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rPr dirty="0"/>
              <a:t>Scenario: </a:t>
            </a:r>
            <a:r>
              <a:rPr dirty="0" err="1"/>
              <a:t>low_res_high_demand</a:t>
            </a:r>
            <a:endParaRPr dirty="0"/>
          </a:p>
          <a:p>
            <a:pPr>
              <a:defRPr sz="1400" i="1">
                <a:solidFill>
                  <a:srgbClr val="555555"/>
                </a:solidFill>
              </a:defRPr>
            </a:pPr>
            <a:r>
              <a:rPr dirty="0"/>
              <a:t>RES collapsed, demand near peak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86AB"/>
                </a:solidFill>
              </a:defRPr>
            </a:pPr>
            <a:r>
              <a:t>How the scenario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/>
            </a:pPr>
            <a:r>
              <a:rPr dirty="0"/>
              <a:t>Loads scaled to 105 % (</a:t>
            </a:r>
            <a:r>
              <a:rPr dirty="0" err="1"/>
              <a:t>load_scale</a:t>
            </a:r>
            <a:r>
              <a:rPr dirty="0"/>
              <a:t> = 1.05).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/>
            </a:pPr>
            <a:r>
              <a:rPr dirty="0"/>
              <a:t>All RES units curtailed to 10 % of nominal P (low wind / dawn solar).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/>
            </a:pPr>
            <a:r>
              <a:rPr dirty="0"/>
              <a:t>Non-RES filled by merit order to meet the higher residual demand.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/>
            </a:pPr>
            <a:r>
              <a:rPr dirty="0"/>
              <a:t>HVDC kept at the baseline 50 MW.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400"/>
            </a:pPr>
            <a:r>
              <a:rPr dirty="0"/>
              <a:t>Goal: stress the thermal fleet and check that prices/dispatch can still cover demand.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86AB"/>
                </a:solidFill>
              </a:defRPr>
            </a:pPr>
            <a:r>
              <a:t>Expected results after AC load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34840"/>
            <a:ext cx="109728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/>
            </a:pPr>
            <a:r>
              <a:rPr dirty="0"/>
              <a:t>HVDC target: 50 MW (IEEE 39 → IEEE 14)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/>
            </a:pPr>
            <a:r>
              <a:rPr dirty="0"/>
              <a:t>Generation per area: IEEE 14: MW  |  IEEE 39: MW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/>
            </a:pPr>
            <a:r>
              <a:rPr dirty="0"/>
              <a:t>Load per area: IEEE 14: MW  |  IEEE 39: MW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300"/>
            </a:pPr>
            <a:r>
              <a:rPr dirty="0"/>
              <a:t>Bus voltages</a:t>
            </a:r>
            <a:r>
              <a:rPr lang="fr-FR" dirty="0"/>
              <a:t>: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E8BEA08D219B439B85909DE82C7FED" ma:contentTypeVersion="13" ma:contentTypeDescription="Create a new document." ma:contentTypeScope="" ma:versionID="5c8b8e36f1041009dddbbe2f59e629c5">
  <xsd:schema xmlns:xsd="http://www.w3.org/2001/XMLSchema" xmlns:xs="http://www.w3.org/2001/XMLSchema" xmlns:p="http://schemas.microsoft.com/office/2006/metadata/properties" xmlns:ns2="8c84694f-e8fa-4c1d-8756-eb7f5d2c5c51" xmlns:ns3="039c73dc-0ae7-4985-93c3-7057b4e6726f" targetNamespace="http://schemas.microsoft.com/office/2006/metadata/properties" ma:root="true" ma:fieldsID="74426ec90bd82ef3e5365f0517753090" ns2:_="" ns3:_="">
    <xsd:import namespace="8c84694f-e8fa-4c1d-8756-eb7f5d2c5c51"/>
    <xsd:import namespace="039c73dc-0ae7-4985-93c3-7057b4e672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84694f-e8fa-4c1d-8756-eb7f5d2c5c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498d318-3671-4998-a554-b64b9cc902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9c73dc-0ae7-4985-93c3-7057b4e6726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be1cfbb-b922-445c-b92e-fd299aff2a22}" ma:internalName="TaxCatchAll" ma:showField="CatchAllData" ma:web="039c73dc-0ae7-4985-93c3-7057b4e672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39c73dc-0ae7-4985-93c3-7057b4e6726f" xsi:nil="true"/>
    <lcf76f155ced4ddcb4097134ff3c332f xmlns="8c84694f-e8fa-4c1d-8756-eb7f5d2c5c5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38DAF59-B3A2-485A-B955-738B77B71B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84694f-e8fa-4c1d-8756-eb7f5d2c5c51"/>
    <ds:schemaRef ds:uri="039c73dc-0ae7-4985-93c3-7057b4e672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7F9BB1-363E-418B-86A7-127D1D7BED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B24518-FB02-4EAA-9977-1609659082C5}">
  <ds:schemaRefs>
    <ds:schemaRef ds:uri="http://purl.org/dc/dcmitype/"/>
    <ds:schemaRef ds:uri="http://purl.org/dc/terms/"/>
    <ds:schemaRef ds:uri="8c84694f-e8fa-4c1d-8756-eb7f5d2c5c51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039c73dc-0ae7-4985-93c3-7057b4e6726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564</Words>
  <Application>Microsoft Office PowerPoint</Application>
  <PresentationFormat>Personnalisé</PresentationFormat>
  <Paragraphs>135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Présentation PowerPoint</vt:lpstr>
      <vt:lpstr>Task 3.2 coordination – Common Test Case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MATHIEU Valentin</cp:lastModifiedBy>
  <cp:revision>2</cp:revision>
  <dcterms:created xsi:type="dcterms:W3CDTF">2013-01-27T09:14:16Z</dcterms:created>
  <dcterms:modified xsi:type="dcterms:W3CDTF">2026-09-23T13:15:02Z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0x01010007E8BEA08D219B439B85909DE82C7FED</vt:lpwstr>
  </property>
  <property fmtid="{D5CDD505-2E9C-101B-9397-08002B2CF9AE}" pid="3" name="MediaServiceImageTags">
    <vt:lpwstr/>
  </property>
</Properties>
</file>